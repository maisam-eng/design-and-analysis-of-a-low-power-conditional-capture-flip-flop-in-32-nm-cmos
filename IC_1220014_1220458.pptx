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sap Bold" charset="0"/>
      <p:regular r:id="rId17"/>
    </p:embeddedFont>
    <p:embeddedFont>
      <p:font typeface="Asap" charset="0"/>
      <p:regular r:id="rId18"/>
    </p:embeddedFont>
    <p:embeddedFont>
      <p:font typeface="Canva Sans Bold" charset="0"/>
      <p:regular r:id="rId19"/>
    </p:embeddedFont>
    <p:embeddedFont>
      <p:font typeface="Arimo Bold" charset="0"/>
      <p:regular r:id="rId20"/>
    </p:embeddedFont>
    <p:embeddedFont>
      <p:font typeface="Arimo" charset="0"/>
      <p:regular r:id="rId21"/>
    </p:embeddedFont>
    <p:embeddedFont>
      <p:font typeface="Calibri" pitchFamily="34" charset="0"/>
      <p:regular r:id="rId22"/>
      <p:bold r:id="rId23"/>
      <p:italic r:id="rId24"/>
      <p:boldItalic r:id="rId25"/>
    </p:embeddedFont>
    <p:embeddedFont>
      <p:font typeface="Canva Sans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9" d="100"/>
          <a:sy n="59" d="100"/>
        </p:scale>
        <p:origin x="-418" y="-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325" y="772525"/>
            <a:ext cx="16942650" cy="8786250"/>
            <a:chOff x="0" y="0"/>
            <a:chExt cx="22590200" cy="11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90252" cy="11714988"/>
            </a:xfrm>
            <a:custGeom>
              <a:avLst/>
              <a:gdLst/>
              <a:ahLst/>
              <a:cxnLst/>
              <a:rect l="l" t="t" r="r" b="b"/>
              <a:pathLst>
                <a:path w="22590252" h="11714988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715"/>
                    <a:pt x="22590252" y="12700"/>
                  </a:cubicBezTo>
                  <a:lnTo>
                    <a:pt x="22590252" y="11702288"/>
                  </a:lnTo>
                  <a:cubicBezTo>
                    <a:pt x="22590252" y="11709273"/>
                    <a:pt x="22584538" y="11714988"/>
                    <a:pt x="22577552" y="11714988"/>
                  </a:cubicBezTo>
                  <a:lnTo>
                    <a:pt x="12700" y="11714988"/>
                  </a:lnTo>
                  <a:cubicBezTo>
                    <a:pt x="5715" y="11714988"/>
                    <a:pt x="0" y="11709273"/>
                    <a:pt x="0" y="117022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702288"/>
                  </a:lnTo>
                  <a:lnTo>
                    <a:pt x="12700" y="11702288"/>
                  </a:lnTo>
                  <a:lnTo>
                    <a:pt x="12700" y="11689588"/>
                  </a:lnTo>
                  <a:lnTo>
                    <a:pt x="22577552" y="11689588"/>
                  </a:lnTo>
                  <a:lnTo>
                    <a:pt x="22577552" y="11702288"/>
                  </a:lnTo>
                  <a:lnTo>
                    <a:pt x="22564852" y="11702288"/>
                  </a:lnTo>
                  <a:lnTo>
                    <a:pt x="22564852" y="12700"/>
                  </a:lnTo>
                  <a:lnTo>
                    <a:pt x="22577552" y="12700"/>
                  </a:lnTo>
                  <a:lnTo>
                    <a:pt x="225775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92325" y="1073100"/>
            <a:ext cx="16942650" cy="8485775"/>
            <a:chOff x="0" y="0"/>
            <a:chExt cx="22590200" cy="113143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590252" cy="11314355"/>
            </a:xfrm>
            <a:custGeom>
              <a:avLst/>
              <a:gdLst/>
              <a:ahLst/>
              <a:cxnLst/>
              <a:rect l="l" t="t" r="r" b="b"/>
              <a:pathLst>
                <a:path w="22590252" h="11314355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520"/>
                    <a:pt x="22590252" y="12266"/>
                  </a:cubicBezTo>
                  <a:lnTo>
                    <a:pt x="22590252" y="11302089"/>
                  </a:lnTo>
                  <a:cubicBezTo>
                    <a:pt x="22590252" y="11308835"/>
                    <a:pt x="22584538" y="11314355"/>
                    <a:pt x="22577552" y="11314355"/>
                  </a:cubicBezTo>
                  <a:lnTo>
                    <a:pt x="12700" y="11314355"/>
                  </a:lnTo>
                  <a:cubicBezTo>
                    <a:pt x="5715" y="11314355"/>
                    <a:pt x="0" y="11308835"/>
                    <a:pt x="0" y="11302089"/>
                  </a:cubicBezTo>
                  <a:lnTo>
                    <a:pt x="0" y="12266"/>
                  </a:lnTo>
                  <a:cubicBezTo>
                    <a:pt x="0" y="5520"/>
                    <a:pt x="5715" y="0"/>
                    <a:pt x="12700" y="0"/>
                  </a:cubicBezTo>
                  <a:moveTo>
                    <a:pt x="12700" y="24531"/>
                  </a:moveTo>
                  <a:lnTo>
                    <a:pt x="12700" y="12266"/>
                  </a:lnTo>
                  <a:lnTo>
                    <a:pt x="25400" y="12266"/>
                  </a:lnTo>
                  <a:lnTo>
                    <a:pt x="25400" y="11302089"/>
                  </a:lnTo>
                  <a:lnTo>
                    <a:pt x="12700" y="11302089"/>
                  </a:lnTo>
                  <a:lnTo>
                    <a:pt x="12700" y="11289824"/>
                  </a:lnTo>
                  <a:lnTo>
                    <a:pt x="22577552" y="11289824"/>
                  </a:lnTo>
                  <a:lnTo>
                    <a:pt x="22577552" y="11302089"/>
                  </a:lnTo>
                  <a:lnTo>
                    <a:pt x="22564852" y="11302089"/>
                  </a:lnTo>
                  <a:lnTo>
                    <a:pt x="22564852" y="12266"/>
                  </a:lnTo>
                  <a:lnTo>
                    <a:pt x="22577552" y="12266"/>
                  </a:lnTo>
                  <a:lnTo>
                    <a:pt x="22577552" y="24531"/>
                  </a:lnTo>
                  <a:lnTo>
                    <a:pt x="12700" y="24531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0609725" y="772625"/>
            <a:ext cx="7025250" cy="8786250"/>
          </a:xfrm>
          <a:custGeom>
            <a:avLst/>
            <a:gdLst/>
            <a:ahLst/>
            <a:cxnLst/>
            <a:rect l="l" t="t" r="r" b="b"/>
            <a:pathLst>
              <a:path w="7025250" h="8786250">
                <a:moveTo>
                  <a:pt x="0" y="0"/>
                </a:moveTo>
                <a:lnTo>
                  <a:pt x="7025250" y="0"/>
                </a:lnTo>
                <a:lnTo>
                  <a:pt x="7025250" y="8786250"/>
                </a:lnTo>
                <a:lnTo>
                  <a:pt x="0" y="87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87069" y="2563448"/>
            <a:ext cx="9294412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5"/>
              </a:lnSpc>
              <a:spcBef>
                <a:spcPct val="0"/>
              </a:spcBef>
            </a:pPr>
            <a:r>
              <a:rPr lang="en-US" sz="3587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Design and Analysis of a Low Power Conditional Capture Flip-Flop in 32 nm CMOS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4841" y="8126151"/>
            <a:ext cx="873886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Date: 27 Jan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8825" y="1324184"/>
            <a:ext cx="101509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 DIGITAL INTEGRATED CIRCUITS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069" y="4756819"/>
            <a:ext cx="9514226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Done by:</a:t>
            </a:r>
          </a:p>
          <a:p>
            <a:pPr algn="ctr">
              <a:lnSpc>
                <a:spcPts val="4799"/>
              </a:lnSpc>
            </a:pPr>
            <a:r>
              <a:rPr lang="en-US" sz="3999" dirty="0" err="1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Maysam</a:t>
            </a:r>
            <a:r>
              <a:rPr lang="en-US" sz="39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999" dirty="0" err="1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AbuJaber</a:t>
            </a:r>
            <a:r>
              <a:rPr lang="en-US" sz="39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 1220014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Khadija </a:t>
            </a:r>
            <a:r>
              <a:rPr lang="en-US" sz="3999" dirty="0" err="1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Absi</a:t>
            </a:r>
            <a:r>
              <a:rPr lang="en-US" sz="39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 1220458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325" y="772525"/>
            <a:ext cx="16942650" cy="8786250"/>
            <a:chOff x="0" y="0"/>
            <a:chExt cx="22590200" cy="11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90252" cy="11714988"/>
            </a:xfrm>
            <a:custGeom>
              <a:avLst/>
              <a:gdLst/>
              <a:ahLst/>
              <a:cxnLst/>
              <a:rect l="l" t="t" r="r" b="b"/>
              <a:pathLst>
                <a:path w="22590252" h="11714988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715"/>
                    <a:pt x="22590252" y="12700"/>
                  </a:cubicBezTo>
                  <a:lnTo>
                    <a:pt x="22590252" y="11702288"/>
                  </a:lnTo>
                  <a:cubicBezTo>
                    <a:pt x="22590252" y="11709273"/>
                    <a:pt x="22584538" y="11714988"/>
                    <a:pt x="22577552" y="11714988"/>
                  </a:cubicBezTo>
                  <a:lnTo>
                    <a:pt x="12700" y="11714988"/>
                  </a:lnTo>
                  <a:cubicBezTo>
                    <a:pt x="5715" y="11714988"/>
                    <a:pt x="0" y="11709273"/>
                    <a:pt x="0" y="117022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702288"/>
                  </a:lnTo>
                  <a:lnTo>
                    <a:pt x="12700" y="11702288"/>
                  </a:lnTo>
                  <a:lnTo>
                    <a:pt x="12700" y="11689588"/>
                  </a:lnTo>
                  <a:lnTo>
                    <a:pt x="22577552" y="11689588"/>
                  </a:lnTo>
                  <a:lnTo>
                    <a:pt x="22577552" y="11702288"/>
                  </a:lnTo>
                  <a:lnTo>
                    <a:pt x="22564852" y="11702288"/>
                  </a:lnTo>
                  <a:lnTo>
                    <a:pt x="22564852" y="12700"/>
                  </a:lnTo>
                  <a:lnTo>
                    <a:pt x="22577552" y="12700"/>
                  </a:lnTo>
                  <a:lnTo>
                    <a:pt x="225775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7062983" y="772625"/>
            <a:ext cx="571650" cy="8786250"/>
          </a:xfrm>
          <a:custGeom>
            <a:avLst/>
            <a:gdLst/>
            <a:ahLst/>
            <a:cxnLst/>
            <a:rect l="l" t="t" r="r" b="b"/>
            <a:pathLst>
              <a:path w="571650" h="8786250">
                <a:moveTo>
                  <a:pt x="0" y="0"/>
                </a:moveTo>
                <a:lnTo>
                  <a:pt x="571650" y="0"/>
                </a:lnTo>
                <a:lnTo>
                  <a:pt x="571650" y="8786250"/>
                </a:lnTo>
                <a:lnTo>
                  <a:pt x="0" y="87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31425" y="952900"/>
            <a:ext cx="1522515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The Outline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31425" y="2513402"/>
            <a:ext cx="15225150" cy="541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950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1. Introduction &amp; Motivation</a:t>
            </a:r>
          </a:p>
          <a:p>
            <a:pPr algn="l">
              <a:lnSpc>
                <a:spcPts val="4740"/>
              </a:lnSpc>
            </a:pPr>
            <a:r>
              <a:rPr lang="en-US" sz="3950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2. Problem Statement</a:t>
            </a:r>
          </a:p>
          <a:p>
            <a:pPr algn="l">
              <a:lnSpc>
                <a:spcPts val="4740"/>
              </a:lnSpc>
            </a:pPr>
            <a:r>
              <a:rPr lang="en-US" sz="3950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3. Proposed CCFF Architecture</a:t>
            </a:r>
          </a:p>
          <a:p>
            <a:pPr algn="l">
              <a:lnSpc>
                <a:spcPts val="4740"/>
              </a:lnSpc>
            </a:pPr>
            <a:r>
              <a:rPr lang="en-US" sz="3950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4. Pre-Layout Simulation Results</a:t>
            </a:r>
          </a:p>
          <a:p>
            <a:pPr algn="l">
              <a:lnSpc>
                <a:spcPts val="4740"/>
              </a:lnSpc>
            </a:pPr>
            <a:r>
              <a:rPr lang="en-US" sz="3950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5. Physical Layout Design</a:t>
            </a:r>
          </a:p>
          <a:p>
            <a:pPr algn="l">
              <a:lnSpc>
                <a:spcPts val="4740"/>
              </a:lnSpc>
            </a:pPr>
            <a:r>
              <a:rPr lang="en-US" sz="3950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6. Post-Layout Simulation Results</a:t>
            </a:r>
          </a:p>
          <a:p>
            <a:pPr algn="l">
              <a:lnSpc>
                <a:spcPts val="4740"/>
              </a:lnSpc>
            </a:pPr>
            <a:r>
              <a:rPr lang="en-US" sz="3950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7. Comparative Analysis</a:t>
            </a:r>
          </a:p>
          <a:p>
            <a:pPr algn="l">
              <a:lnSpc>
                <a:spcPts val="4740"/>
              </a:lnSpc>
            </a:pPr>
            <a:r>
              <a:rPr lang="en-US" sz="3950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8. Innovation &amp; Results Summary</a:t>
            </a:r>
          </a:p>
          <a:p>
            <a:pPr algn="l">
              <a:lnSpc>
                <a:spcPts val="4740"/>
              </a:lnSpc>
            </a:pPr>
            <a:r>
              <a:rPr lang="en-US" sz="3950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9. Conclusion &amp; Future Work</a:t>
            </a:r>
          </a:p>
        </p:txBody>
      </p:sp>
      <p:sp>
        <p:nvSpPr>
          <p:cNvPr id="7" name="Freeform 7"/>
          <p:cNvSpPr/>
          <p:nvPr/>
        </p:nvSpPr>
        <p:spPr>
          <a:xfrm>
            <a:off x="10609725" y="772625"/>
            <a:ext cx="7025250" cy="8786250"/>
          </a:xfrm>
          <a:custGeom>
            <a:avLst/>
            <a:gdLst/>
            <a:ahLst/>
            <a:cxnLst/>
            <a:rect l="l" t="t" r="r" b="b"/>
            <a:pathLst>
              <a:path w="7025250" h="8786250">
                <a:moveTo>
                  <a:pt x="0" y="0"/>
                </a:moveTo>
                <a:lnTo>
                  <a:pt x="7025250" y="0"/>
                </a:lnTo>
                <a:lnTo>
                  <a:pt x="7025250" y="8786250"/>
                </a:lnTo>
                <a:lnTo>
                  <a:pt x="0" y="87862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325" y="772525"/>
            <a:ext cx="16942650" cy="8786250"/>
            <a:chOff x="0" y="0"/>
            <a:chExt cx="22590200" cy="11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90252" cy="11714988"/>
            </a:xfrm>
            <a:custGeom>
              <a:avLst/>
              <a:gdLst/>
              <a:ahLst/>
              <a:cxnLst/>
              <a:rect l="l" t="t" r="r" b="b"/>
              <a:pathLst>
                <a:path w="22590252" h="11714988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715"/>
                    <a:pt x="22590252" y="12700"/>
                  </a:cubicBezTo>
                  <a:lnTo>
                    <a:pt x="22590252" y="11702288"/>
                  </a:lnTo>
                  <a:cubicBezTo>
                    <a:pt x="22590252" y="11709273"/>
                    <a:pt x="22584538" y="11714988"/>
                    <a:pt x="22577552" y="11714988"/>
                  </a:cubicBezTo>
                  <a:lnTo>
                    <a:pt x="12700" y="11714988"/>
                  </a:lnTo>
                  <a:cubicBezTo>
                    <a:pt x="5715" y="11714988"/>
                    <a:pt x="0" y="11709273"/>
                    <a:pt x="0" y="117022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702288"/>
                  </a:lnTo>
                  <a:lnTo>
                    <a:pt x="12700" y="11702288"/>
                  </a:lnTo>
                  <a:lnTo>
                    <a:pt x="12700" y="11689588"/>
                  </a:lnTo>
                  <a:lnTo>
                    <a:pt x="22577552" y="11689588"/>
                  </a:lnTo>
                  <a:lnTo>
                    <a:pt x="22577552" y="11702288"/>
                  </a:lnTo>
                  <a:lnTo>
                    <a:pt x="22564852" y="11702288"/>
                  </a:lnTo>
                  <a:lnTo>
                    <a:pt x="22564852" y="12700"/>
                  </a:lnTo>
                  <a:lnTo>
                    <a:pt x="22577552" y="12700"/>
                  </a:lnTo>
                  <a:lnTo>
                    <a:pt x="225775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7062983" y="772625"/>
            <a:ext cx="571650" cy="8786250"/>
          </a:xfrm>
          <a:custGeom>
            <a:avLst/>
            <a:gdLst/>
            <a:ahLst/>
            <a:cxnLst/>
            <a:rect l="l" t="t" r="r" b="b"/>
            <a:pathLst>
              <a:path w="571650" h="8786250">
                <a:moveTo>
                  <a:pt x="0" y="0"/>
                </a:moveTo>
                <a:lnTo>
                  <a:pt x="571650" y="0"/>
                </a:lnTo>
                <a:lnTo>
                  <a:pt x="571650" y="8786250"/>
                </a:lnTo>
                <a:lnTo>
                  <a:pt x="0" y="87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31425" y="952900"/>
            <a:ext cx="15225150" cy="99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EBEAEA"/>
                </a:solidFill>
                <a:latin typeface="Arimo Bold"/>
                <a:ea typeface="Arimo Bold"/>
                <a:cs typeface="Arimo Bold"/>
                <a:sym typeface="Arimo Bold"/>
              </a:rPr>
              <a:t>Table of 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2325" y="1106195"/>
            <a:ext cx="9872714" cy="800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0"/>
              </a:lnSpc>
            </a:pPr>
            <a:r>
              <a:rPr lang="en-US" sz="5000" b="1" dirty="0">
                <a:solidFill>
                  <a:srgbClr val="282A2E"/>
                </a:solidFill>
                <a:latin typeface="Asap Bold"/>
                <a:ea typeface="Asap Bold"/>
                <a:cs typeface="Asap Bold"/>
                <a:sym typeface="Asap Bold"/>
              </a:rPr>
              <a:t>Introduction &amp; Motivation </a:t>
            </a:r>
          </a:p>
          <a:p>
            <a:pPr algn="l">
              <a:lnSpc>
                <a:spcPts val="5418"/>
              </a:lnSpc>
            </a:pPr>
            <a:endParaRPr lang="en-US" sz="5000" b="1" dirty="0">
              <a:solidFill>
                <a:srgbClr val="282A2E"/>
              </a:solidFill>
              <a:latin typeface="Asap Bold"/>
              <a:ea typeface="Asap Bold"/>
              <a:cs typeface="Asap Bold"/>
              <a:sym typeface="Asap Bold"/>
            </a:endParaRPr>
          </a:p>
          <a:p>
            <a:pPr algn="l">
              <a:lnSpc>
                <a:spcPts val="5639"/>
              </a:lnSpc>
            </a:pPr>
            <a:r>
              <a:rPr lang="en-US" sz="3999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Power Crisis in Modern VLSI:</a:t>
            </a:r>
          </a:p>
          <a:p>
            <a:pPr algn="l">
              <a:lnSpc>
                <a:spcPts val="5639"/>
              </a:lnSpc>
            </a:pPr>
            <a:r>
              <a:rPr lang="en-US" sz="3999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- Clock power: 30-45% of total chip power</a:t>
            </a:r>
          </a:p>
          <a:p>
            <a:pPr algn="l">
              <a:lnSpc>
                <a:spcPts val="5639"/>
              </a:lnSpc>
            </a:pPr>
            <a:r>
              <a:rPr lang="en-US" sz="3999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- Flip-flops: Critical for power optimization</a:t>
            </a:r>
          </a:p>
          <a:p>
            <a:pPr algn="l">
              <a:lnSpc>
                <a:spcPts val="5639"/>
              </a:lnSpc>
            </a:pPr>
            <a:r>
              <a:rPr lang="en-US" sz="3999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- Problem: Redundant switching when D=Q</a:t>
            </a:r>
          </a:p>
          <a:p>
            <a:pPr algn="l">
              <a:lnSpc>
                <a:spcPts val="5639"/>
              </a:lnSpc>
            </a:pPr>
            <a:r>
              <a:rPr lang="en-US" sz="3999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Statistical Opportunity:</a:t>
            </a:r>
          </a:p>
          <a:p>
            <a:pPr algn="l">
              <a:lnSpc>
                <a:spcPts val="5639"/>
              </a:lnSpc>
            </a:pPr>
            <a:r>
              <a:rPr lang="en-US" sz="3999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- Flip-flops unchanged 50-70% of cycles</a:t>
            </a:r>
          </a:p>
          <a:p>
            <a:pPr algn="l">
              <a:lnSpc>
                <a:spcPts val="5639"/>
              </a:lnSpc>
            </a:pPr>
            <a:r>
              <a:rPr lang="en-US" sz="3999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- Target: Low-activity applications</a:t>
            </a:r>
          </a:p>
          <a:p>
            <a:pPr algn="l">
              <a:lnSpc>
                <a:spcPts val="5639"/>
              </a:lnSpc>
            </a:pPr>
            <a:r>
              <a:rPr lang="en-US" sz="3999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  - Control logic</a:t>
            </a:r>
          </a:p>
          <a:p>
            <a:pPr algn="l">
              <a:lnSpc>
                <a:spcPts val="5639"/>
              </a:lnSpc>
            </a:pPr>
            <a:r>
              <a:rPr lang="en-US" sz="3999" dirty="0">
                <a:solidFill>
                  <a:srgbClr val="282A2E"/>
                </a:solidFill>
                <a:latin typeface="Asap"/>
                <a:ea typeface="Asap"/>
                <a:cs typeface="Asap"/>
                <a:sym typeface="Asap"/>
              </a:rPr>
              <a:t>  - Configuration registers</a:t>
            </a:r>
          </a:p>
        </p:txBody>
      </p:sp>
      <p:sp>
        <p:nvSpPr>
          <p:cNvPr id="7" name="Freeform 7"/>
          <p:cNvSpPr/>
          <p:nvPr/>
        </p:nvSpPr>
        <p:spPr>
          <a:xfrm>
            <a:off x="10327911" y="1028700"/>
            <a:ext cx="6735072" cy="8530075"/>
          </a:xfrm>
          <a:custGeom>
            <a:avLst/>
            <a:gdLst/>
            <a:ahLst/>
            <a:cxnLst/>
            <a:rect l="l" t="t" r="r" b="b"/>
            <a:pathLst>
              <a:path w="6735072" h="8530075">
                <a:moveTo>
                  <a:pt x="0" y="0"/>
                </a:moveTo>
                <a:lnTo>
                  <a:pt x="6735072" y="0"/>
                </a:lnTo>
                <a:lnTo>
                  <a:pt x="6735072" y="8530075"/>
                </a:lnTo>
                <a:lnTo>
                  <a:pt x="0" y="8530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512" r="-16139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325" y="772525"/>
            <a:ext cx="16942650" cy="8786250"/>
            <a:chOff x="0" y="0"/>
            <a:chExt cx="22590200" cy="11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90252" cy="11714988"/>
            </a:xfrm>
            <a:custGeom>
              <a:avLst/>
              <a:gdLst/>
              <a:ahLst/>
              <a:cxnLst/>
              <a:rect l="l" t="t" r="r" b="b"/>
              <a:pathLst>
                <a:path w="22590252" h="11714988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715"/>
                    <a:pt x="22590252" y="12700"/>
                  </a:cubicBezTo>
                  <a:lnTo>
                    <a:pt x="22590252" y="11702288"/>
                  </a:lnTo>
                  <a:cubicBezTo>
                    <a:pt x="22590252" y="11709273"/>
                    <a:pt x="22584538" y="11714988"/>
                    <a:pt x="22577552" y="11714988"/>
                  </a:cubicBezTo>
                  <a:lnTo>
                    <a:pt x="12700" y="11714988"/>
                  </a:lnTo>
                  <a:cubicBezTo>
                    <a:pt x="5715" y="11714988"/>
                    <a:pt x="0" y="11709273"/>
                    <a:pt x="0" y="117022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702288"/>
                  </a:lnTo>
                  <a:lnTo>
                    <a:pt x="12700" y="11702288"/>
                  </a:lnTo>
                  <a:lnTo>
                    <a:pt x="12700" y="11689588"/>
                  </a:lnTo>
                  <a:lnTo>
                    <a:pt x="22577552" y="11689588"/>
                  </a:lnTo>
                  <a:lnTo>
                    <a:pt x="22577552" y="11702288"/>
                  </a:lnTo>
                  <a:lnTo>
                    <a:pt x="22564852" y="11702288"/>
                  </a:lnTo>
                  <a:lnTo>
                    <a:pt x="22564852" y="12700"/>
                  </a:lnTo>
                  <a:lnTo>
                    <a:pt x="22577552" y="12700"/>
                  </a:lnTo>
                  <a:lnTo>
                    <a:pt x="225775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30315" y="772525"/>
            <a:ext cx="7025250" cy="8786250"/>
          </a:xfrm>
          <a:custGeom>
            <a:avLst/>
            <a:gdLst/>
            <a:ahLst/>
            <a:cxnLst/>
            <a:rect l="l" t="t" r="r" b="b"/>
            <a:pathLst>
              <a:path w="7025250" h="8786250">
                <a:moveTo>
                  <a:pt x="0" y="0"/>
                </a:moveTo>
                <a:lnTo>
                  <a:pt x="7025250" y="0"/>
                </a:lnTo>
                <a:lnTo>
                  <a:pt x="7025250" y="8786250"/>
                </a:lnTo>
                <a:lnTo>
                  <a:pt x="0" y="87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651731" y="4629418"/>
          <a:ext cx="7295550" cy="4628881"/>
        </p:xfrm>
        <a:graphic>
          <a:graphicData uri="http://schemas.openxmlformats.org/drawingml/2006/table">
            <a:tbl>
              <a:tblPr/>
              <a:tblGrid>
                <a:gridCol w="2431850"/>
                <a:gridCol w="2431850"/>
                <a:gridCol w="2431850"/>
              </a:tblGrid>
              <a:tr h="1373379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2500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Design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Power Reduction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Limitation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1593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Kang 2008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Timing OH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337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Mahmood (2004)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Area +43%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053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Roy (2014)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29%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PVT issues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8434732" y="956614"/>
            <a:ext cx="7512549" cy="356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8428" lvl="1" indent="-284214" algn="l">
              <a:lnSpc>
                <a:spcPts val="4765"/>
              </a:lnSpc>
              <a:buFont typeface="Arial"/>
              <a:buChar char="•"/>
            </a:pPr>
            <a:r>
              <a:rPr lang="en-US" sz="2632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Conventional FF Problem</a:t>
            </a:r>
          </a:p>
          <a:p>
            <a:pPr marL="568428" lvl="1" indent="-284214" algn="l">
              <a:lnSpc>
                <a:spcPts val="4765"/>
              </a:lnSpc>
              <a:buFont typeface="Arial"/>
              <a:buChar char="•"/>
            </a:pPr>
            <a:r>
              <a:rPr lang="en-US" sz="2632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Continuous internal switching</a:t>
            </a:r>
          </a:p>
          <a:p>
            <a:pPr marL="568428" lvl="1" indent="-284214" algn="l">
              <a:lnSpc>
                <a:spcPts val="4765"/>
              </a:lnSpc>
              <a:buFont typeface="Arial"/>
              <a:buChar char="•"/>
            </a:pPr>
            <a:r>
              <a:rPr lang="en-US" sz="2632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Power waste even when D = Q</a:t>
            </a:r>
          </a:p>
          <a:p>
            <a:pPr marL="568428" lvl="1" indent="-284214" algn="l">
              <a:lnSpc>
                <a:spcPts val="4765"/>
              </a:lnSpc>
              <a:buFont typeface="Arial"/>
              <a:buChar char="•"/>
            </a:pPr>
            <a:r>
              <a:rPr lang="en-US" sz="2632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No data-dependent control</a:t>
            </a:r>
          </a:p>
          <a:p>
            <a:pPr algn="l">
              <a:lnSpc>
                <a:spcPts val="4765"/>
              </a:lnSpc>
            </a:pPr>
            <a:r>
              <a:rPr lang="en-US" sz="2632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Our Goal: Optimal power-timing-area balance</a:t>
            </a:r>
          </a:p>
          <a:p>
            <a:pPr algn="l">
              <a:lnSpc>
                <a:spcPts val="4765"/>
              </a:lnSpc>
            </a:pPr>
            <a:endParaRPr lang="en-US" sz="2632" dirty="0">
              <a:solidFill>
                <a:srgbClr val="282A2E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325" y="772525"/>
            <a:ext cx="16942650" cy="8786250"/>
            <a:chOff x="0" y="0"/>
            <a:chExt cx="22590200" cy="11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90252" cy="11714988"/>
            </a:xfrm>
            <a:custGeom>
              <a:avLst/>
              <a:gdLst/>
              <a:ahLst/>
              <a:cxnLst/>
              <a:rect l="l" t="t" r="r" b="b"/>
              <a:pathLst>
                <a:path w="22590252" h="11714988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715"/>
                    <a:pt x="22590252" y="12700"/>
                  </a:cubicBezTo>
                  <a:lnTo>
                    <a:pt x="22590252" y="11702288"/>
                  </a:lnTo>
                  <a:cubicBezTo>
                    <a:pt x="22590252" y="11709273"/>
                    <a:pt x="22584538" y="11714988"/>
                    <a:pt x="22577552" y="11714988"/>
                  </a:cubicBezTo>
                  <a:lnTo>
                    <a:pt x="12700" y="11714988"/>
                  </a:lnTo>
                  <a:cubicBezTo>
                    <a:pt x="5715" y="11714988"/>
                    <a:pt x="0" y="11709273"/>
                    <a:pt x="0" y="117022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702288"/>
                  </a:lnTo>
                  <a:lnTo>
                    <a:pt x="12700" y="11702288"/>
                  </a:lnTo>
                  <a:lnTo>
                    <a:pt x="12700" y="11689588"/>
                  </a:lnTo>
                  <a:lnTo>
                    <a:pt x="22577552" y="11689588"/>
                  </a:lnTo>
                  <a:lnTo>
                    <a:pt x="22577552" y="11702288"/>
                  </a:lnTo>
                  <a:lnTo>
                    <a:pt x="22564852" y="11702288"/>
                  </a:lnTo>
                  <a:lnTo>
                    <a:pt x="22564852" y="12700"/>
                  </a:lnTo>
                  <a:lnTo>
                    <a:pt x="22577552" y="12700"/>
                  </a:lnTo>
                  <a:lnTo>
                    <a:pt x="225775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7369147" y="2266207"/>
            <a:ext cx="9890153" cy="5649750"/>
          </a:xfrm>
          <a:custGeom>
            <a:avLst/>
            <a:gdLst/>
            <a:ahLst/>
            <a:cxnLst/>
            <a:rect l="l" t="t" r="r" b="b"/>
            <a:pathLst>
              <a:path w="9890153" h="5649750">
                <a:moveTo>
                  <a:pt x="0" y="0"/>
                </a:moveTo>
                <a:lnTo>
                  <a:pt x="9890153" y="0"/>
                </a:lnTo>
                <a:lnTo>
                  <a:pt x="9890153" y="5649749"/>
                </a:lnTo>
                <a:lnTo>
                  <a:pt x="0" y="5649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17875" y="1746195"/>
            <a:ext cx="9322674" cy="70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9"/>
              </a:lnSpc>
            </a:pPr>
            <a:endParaRPr dirty="0"/>
          </a:p>
          <a:p>
            <a:pPr algn="l">
              <a:lnSpc>
                <a:spcPts val="3089"/>
              </a:lnSpc>
            </a:pP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Three Main Blocks:</a:t>
            </a:r>
          </a:p>
          <a:p>
            <a:pPr algn="l">
              <a:lnSpc>
                <a:spcPts val="3089"/>
              </a:lnSpc>
            </a:pPr>
            <a:r>
              <a:rPr lang="en-US" sz="2574" b="1" dirty="0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1.</a:t>
            </a:r>
            <a:r>
              <a:rPr lang="en-US" sz="2574" b="1" dirty="0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574" b="1" dirty="0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 </a:t>
            </a: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Comparison Unit (XOR)</a:t>
            </a:r>
          </a:p>
          <a:p>
            <a:pPr algn="l">
              <a:lnSpc>
                <a:spcPts val="3089"/>
              </a:lnSpc>
            </a:pP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• Compares D and Q</a:t>
            </a:r>
          </a:p>
          <a:p>
            <a:pPr algn="l">
              <a:lnSpc>
                <a:spcPts val="3089"/>
              </a:lnSpc>
            </a:pP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• Lightweight: 2-transistor TG</a:t>
            </a:r>
          </a:p>
          <a:p>
            <a:pPr algn="l">
              <a:lnSpc>
                <a:spcPts val="3089"/>
              </a:lnSpc>
            </a:pPr>
            <a:endParaRPr lang="en-US" sz="257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089"/>
              </a:lnSpc>
            </a:pPr>
            <a:r>
              <a:rPr lang="en-US" sz="2574" b="1" dirty="0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2. </a:t>
            </a: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Conditional Clock Gating</a:t>
            </a:r>
          </a:p>
          <a:p>
            <a:pPr algn="l">
              <a:lnSpc>
                <a:spcPts val="3089"/>
              </a:lnSpc>
            </a:pP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• Generates </a:t>
            </a:r>
            <a:r>
              <a:rPr lang="en-US" sz="257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CLK_int</a:t>
            </a:r>
            <a:endParaRPr lang="en-US" sz="257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089"/>
              </a:lnSpc>
            </a:pP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• Blocks when D = Q</a:t>
            </a:r>
          </a:p>
          <a:p>
            <a:pPr algn="l">
              <a:lnSpc>
                <a:spcPts val="3089"/>
              </a:lnSpc>
            </a:pPr>
            <a:endParaRPr lang="en-US" sz="257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089"/>
              </a:lnSpc>
            </a:pPr>
            <a:r>
              <a:rPr lang="en-US" sz="2574" b="1" dirty="0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  <a:r>
              <a:rPr lang="en-US" sz="2574" b="1" dirty="0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Master-Slave Latch</a:t>
            </a:r>
          </a:p>
          <a:p>
            <a:pPr algn="l">
              <a:lnSpc>
                <a:spcPts val="3089"/>
              </a:lnSpc>
            </a:pP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• Static CMOS design</a:t>
            </a:r>
          </a:p>
          <a:p>
            <a:pPr algn="l">
              <a:lnSpc>
                <a:spcPts val="3089"/>
              </a:lnSpc>
            </a:pP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• Robust data retention</a:t>
            </a:r>
          </a:p>
          <a:p>
            <a:pPr algn="l">
              <a:lnSpc>
                <a:spcPts val="3089"/>
              </a:lnSpc>
            </a:pPr>
            <a:endParaRPr lang="en-US" sz="257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089"/>
              </a:lnSpc>
            </a:pP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Specifications:</a:t>
            </a:r>
          </a:p>
          <a:p>
            <a:pPr algn="l">
              <a:lnSpc>
                <a:spcPts val="3089"/>
              </a:lnSpc>
            </a:pP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- 28 transistors (vs. 24 conventional)</a:t>
            </a:r>
          </a:p>
          <a:p>
            <a:pPr algn="l">
              <a:lnSpc>
                <a:spcPts val="3089"/>
              </a:lnSpc>
            </a:pP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- 18% area overhead</a:t>
            </a:r>
          </a:p>
          <a:p>
            <a:pPr algn="l">
              <a:lnSpc>
                <a:spcPts val="3089"/>
              </a:lnSpc>
            </a:pPr>
            <a:r>
              <a:rPr lang="en-US" sz="257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- 32 nm CMOS technology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325" y="772525"/>
            <a:ext cx="16942650" cy="8786250"/>
            <a:chOff x="0" y="0"/>
            <a:chExt cx="22590200" cy="11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90252" cy="11714988"/>
            </a:xfrm>
            <a:custGeom>
              <a:avLst/>
              <a:gdLst/>
              <a:ahLst/>
              <a:cxnLst/>
              <a:rect l="l" t="t" r="r" b="b"/>
              <a:pathLst>
                <a:path w="22590252" h="11714988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715"/>
                    <a:pt x="22590252" y="12700"/>
                  </a:cubicBezTo>
                  <a:lnTo>
                    <a:pt x="22590252" y="11702288"/>
                  </a:lnTo>
                  <a:cubicBezTo>
                    <a:pt x="22590252" y="11709273"/>
                    <a:pt x="22584538" y="11714988"/>
                    <a:pt x="22577552" y="11714988"/>
                  </a:cubicBezTo>
                  <a:lnTo>
                    <a:pt x="12700" y="11714988"/>
                  </a:lnTo>
                  <a:cubicBezTo>
                    <a:pt x="5715" y="11714988"/>
                    <a:pt x="0" y="11709273"/>
                    <a:pt x="0" y="117022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702288"/>
                  </a:lnTo>
                  <a:lnTo>
                    <a:pt x="12700" y="11702288"/>
                  </a:lnTo>
                  <a:lnTo>
                    <a:pt x="12700" y="11689588"/>
                  </a:lnTo>
                  <a:lnTo>
                    <a:pt x="22577552" y="11689588"/>
                  </a:lnTo>
                  <a:lnTo>
                    <a:pt x="22577552" y="11702288"/>
                  </a:lnTo>
                  <a:lnTo>
                    <a:pt x="22564852" y="11702288"/>
                  </a:lnTo>
                  <a:lnTo>
                    <a:pt x="22564852" y="12700"/>
                  </a:lnTo>
                  <a:lnTo>
                    <a:pt x="22577552" y="12700"/>
                  </a:lnTo>
                  <a:lnTo>
                    <a:pt x="225775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692333" y="772625"/>
            <a:ext cx="571650" cy="8786250"/>
          </a:xfrm>
          <a:custGeom>
            <a:avLst/>
            <a:gdLst/>
            <a:ahLst/>
            <a:cxnLst/>
            <a:rect l="l" t="t" r="r" b="b"/>
            <a:pathLst>
              <a:path w="571650" h="8786250">
                <a:moveTo>
                  <a:pt x="0" y="0"/>
                </a:moveTo>
                <a:lnTo>
                  <a:pt x="571650" y="0"/>
                </a:lnTo>
                <a:lnTo>
                  <a:pt x="571650" y="8786250"/>
                </a:lnTo>
                <a:lnTo>
                  <a:pt x="0" y="87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802464" y="1028700"/>
            <a:ext cx="12167517" cy="5292870"/>
          </a:xfrm>
          <a:custGeom>
            <a:avLst/>
            <a:gdLst/>
            <a:ahLst/>
            <a:cxnLst/>
            <a:rect l="l" t="t" r="r" b="b"/>
            <a:pathLst>
              <a:path w="12167517" h="5292870">
                <a:moveTo>
                  <a:pt x="0" y="0"/>
                </a:moveTo>
                <a:lnTo>
                  <a:pt x="12167517" y="0"/>
                </a:lnTo>
                <a:lnTo>
                  <a:pt x="12167517" y="5292870"/>
                </a:lnTo>
                <a:lnTo>
                  <a:pt x="0" y="5292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45071" y="6612820"/>
            <a:ext cx="15314229" cy="1430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2"/>
              </a:lnSpc>
              <a:spcBef>
                <a:spcPct val="0"/>
              </a:spcBef>
            </a:pPr>
            <a:r>
              <a:rPr lang="en-US" sz="186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When the input data differs from the stored value (D ≠ Q), the comparison logic activates the internal clock, allowing normal flip-flop operation and enabling data transfer from the master to the slave stage. In contrast, when no data transition occurs (D = Q), the internal clock is blocked, freezing the internal nodes and completely eliminating unnecessary switching activity, which results in significant power savings. From a timing perspective, the comparison operation must be completed before the active clock edge, introducing a minor setup time penalty of approximately 7 </a:t>
            </a:r>
            <a:r>
              <a:rPr lang="en-US" sz="1868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ps</a:t>
            </a:r>
            <a:r>
              <a:rPr lang="en-US" sz="1868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while ensuring fully glitch-free and reliable operation.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62983" y="772625"/>
            <a:ext cx="571650" cy="8786250"/>
          </a:xfrm>
          <a:custGeom>
            <a:avLst/>
            <a:gdLst/>
            <a:ahLst/>
            <a:cxnLst/>
            <a:rect l="l" t="t" r="r" b="b"/>
            <a:pathLst>
              <a:path w="571650" h="8786250">
                <a:moveTo>
                  <a:pt x="0" y="0"/>
                </a:moveTo>
                <a:lnTo>
                  <a:pt x="571650" y="0"/>
                </a:lnTo>
                <a:lnTo>
                  <a:pt x="571650" y="8786250"/>
                </a:lnTo>
                <a:lnTo>
                  <a:pt x="0" y="87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799387" y="1795730"/>
          <a:ext cx="12689227" cy="7515227"/>
        </p:xfrm>
        <a:graphic>
          <a:graphicData uri="http://schemas.openxmlformats.org/drawingml/2006/table">
            <a:tbl>
              <a:tblPr/>
              <a:tblGrid>
                <a:gridCol w="4782259"/>
                <a:gridCol w="3486703"/>
                <a:gridCol w="4420265"/>
              </a:tblGrid>
              <a:tr h="957354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 dirty="0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Parameter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Conventional FF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 Proposed CCFF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7354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avg Power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3.77*10-7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2.3*10-7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7354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CLK Power(W)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3.77*10-7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3.77*10-7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633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Setup Time (ps)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42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633"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Hold Time (ps)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633"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CLK to Q (</a:t>
                      </a:r>
                      <a:r>
                        <a:rPr lang="en-US" sz="2600" b="1" dirty="0" err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ps</a:t>
                      </a:r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)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37.8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38.5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633"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Power Reduction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39%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633"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CLK Power Reduction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48.6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3150264" y="159703"/>
            <a:ext cx="10185083" cy="1505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7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pre-Layout 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325" y="772525"/>
            <a:ext cx="16942650" cy="8786250"/>
            <a:chOff x="0" y="0"/>
            <a:chExt cx="22590200" cy="11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90252" cy="11714988"/>
            </a:xfrm>
            <a:custGeom>
              <a:avLst/>
              <a:gdLst/>
              <a:ahLst/>
              <a:cxnLst/>
              <a:rect l="l" t="t" r="r" b="b"/>
              <a:pathLst>
                <a:path w="22590252" h="11714988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715"/>
                    <a:pt x="22590252" y="12700"/>
                  </a:cubicBezTo>
                  <a:lnTo>
                    <a:pt x="22590252" y="11702288"/>
                  </a:lnTo>
                  <a:cubicBezTo>
                    <a:pt x="22590252" y="11709273"/>
                    <a:pt x="22584538" y="11714988"/>
                    <a:pt x="22577552" y="11714988"/>
                  </a:cubicBezTo>
                  <a:lnTo>
                    <a:pt x="12700" y="11714988"/>
                  </a:lnTo>
                  <a:cubicBezTo>
                    <a:pt x="5715" y="11714988"/>
                    <a:pt x="0" y="11709273"/>
                    <a:pt x="0" y="117022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702288"/>
                  </a:lnTo>
                  <a:lnTo>
                    <a:pt x="12700" y="11702288"/>
                  </a:lnTo>
                  <a:lnTo>
                    <a:pt x="12700" y="11689588"/>
                  </a:lnTo>
                  <a:lnTo>
                    <a:pt x="22577552" y="11689588"/>
                  </a:lnTo>
                  <a:lnTo>
                    <a:pt x="22577552" y="11702288"/>
                  </a:lnTo>
                  <a:lnTo>
                    <a:pt x="22564852" y="11702288"/>
                  </a:lnTo>
                  <a:lnTo>
                    <a:pt x="22564852" y="12700"/>
                  </a:lnTo>
                  <a:lnTo>
                    <a:pt x="22577552" y="12700"/>
                  </a:lnTo>
                  <a:lnTo>
                    <a:pt x="225775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692325" y="1028700"/>
            <a:ext cx="8115300" cy="4940189"/>
          </a:xfrm>
          <a:custGeom>
            <a:avLst/>
            <a:gdLst/>
            <a:ahLst/>
            <a:cxnLst/>
            <a:rect l="l" t="t" r="r" b="b"/>
            <a:pathLst>
              <a:path w="8115300" h="4940189">
                <a:moveTo>
                  <a:pt x="0" y="0"/>
                </a:moveTo>
                <a:lnTo>
                  <a:pt x="8115300" y="0"/>
                </a:lnTo>
                <a:lnTo>
                  <a:pt x="8115300" y="4940189"/>
                </a:lnTo>
                <a:lnTo>
                  <a:pt x="0" y="4940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83479" y="1028700"/>
            <a:ext cx="8821766" cy="4940189"/>
          </a:xfrm>
          <a:custGeom>
            <a:avLst/>
            <a:gdLst/>
            <a:ahLst/>
            <a:cxnLst/>
            <a:rect l="l" t="t" r="r" b="b"/>
            <a:pathLst>
              <a:path w="8821766" h="4940189">
                <a:moveTo>
                  <a:pt x="0" y="0"/>
                </a:moveTo>
                <a:lnTo>
                  <a:pt x="8821766" y="0"/>
                </a:lnTo>
                <a:lnTo>
                  <a:pt x="8821766" y="4940189"/>
                </a:lnTo>
                <a:lnTo>
                  <a:pt x="0" y="494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73969" y="5699760"/>
            <a:ext cx="16185331" cy="355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79"/>
              </a:lnSpc>
            </a:pPr>
            <a:endParaRPr dirty="0"/>
          </a:p>
          <a:p>
            <a:pPr algn="ctr">
              <a:lnSpc>
                <a:spcPts val="3479"/>
              </a:lnSpc>
            </a:pPr>
            <a:r>
              <a:rPr lang="en-US" sz="3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Right (CCFF): Internal clock stops toggling when D = Q,</a:t>
            </a:r>
          </a:p>
          <a:p>
            <a:pPr algn="ctr">
              <a:lnSpc>
                <a:spcPts val="3479"/>
              </a:lnSpc>
            </a:pPr>
            <a:r>
              <a:rPr lang="en-US" sz="3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eliminating unnecessary switching and saving power.</a:t>
            </a:r>
          </a:p>
          <a:p>
            <a:pPr algn="ctr">
              <a:lnSpc>
                <a:spcPts val="3479"/>
              </a:lnSpc>
            </a:pPr>
            <a:endParaRPr lang="en-US" sz="3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479"/>
              </a:lnSpc>
            </a:pPr>
            <a:r>
              <a:rPr lang="en-US" sz="3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left (Conventional FF): Internal signals continuously </a:t>
            </a:r>
          </a:p>
          <a:p>
            <a:pPr algn="ctr">
              <a:lnSpc>
                <a:spcPts val="3479"/>
              </a:lnSpc>
            </a:pPr>
            <a:r>
              <a:rPr lang="en-US" sz="3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toggle every cycle, wasting power even when data is stable.</a:t>
            </a:r>
          </a:p>
          <a:p>
            <a:pPr algn="ctr">
              <a:lnSpc>
                <a:spcPts val="3479"/>
              </a:lnSpc>
            </a:pPr>
            <a:endParaRPr lang="en-US" sz="39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479"/>
              </a:lnSpc>
            </a:pPr>
            <a:r>
              <a:rPr lang="en-US" sz="39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Result: 39% power reduction in CCFF vs. conventional design.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325" y="772525"/>
            <a:ext cx="16942650" cy="8786250"/>
            <a:chOff x="0" y="0"/>
            <a:chExt cx="22590200" cy="11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90252" cy="11714988"/>
            </a:xfrm>
            <a:custGeom>
              <a:avLst/>
              <a:gdLst/>
              <a:ahLst/>
              <a:cxnLst/>
              <a:rect l="l" t="t" r="r" b="b"/>
              <a:pathLst>
                <a:path w="22590252" h="11714988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715"/>
                    <a:pt x="22590252" y="12700"/>
                  </a:cubicBezTo>
                  <a:lnTo>
                    <a:pt x="22590252" y="11702288"/>
                  </a:lnTo>
                  <a:cubicBezTo>
                    <a:pt x="22590252" y="11709273"/>
                    <a:pt x="22584538" y="11714988"/>
                    <a:pt x="22577552" y="11714988"/>
                  </a:cubicBezTo>
                  <a:lnTo>
                    <a:pt x="12700" y="11714988"/>
                  </a:lnTo>
                  <a:cubicBezTo>
                    <a:pt x="5715" y="11714988"/>
                    <a:pt x="0" y="11709273"/>
                    <a:pt x="0" y="117022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702288"/>
                  </a:lnTo>
                  <a:lnTo>
                    <a:pt x="12700" y="11702288"/>
                  </a:lnTo>
                  <a:lnTo>
                    <a:pt x="12700" y="11689588"/>
                  </a:lnTo>
                  <a:lnTo>
                    <a:pt x="22577552" y="11689588"/>
                  </a:lnTo>
                  <a:lnTo>
                    <a:pt x="22577552" y="11702288"/>
                  </a:lnTo>
                  <a:lnTo>
                    <a:pt x="22564852" y="11702288"/>
                  </a:lnTo>
                  <a:lnTo>
                    <a:pt x="22564852" y="12700"/>
                  </a:lnTo>
                  <a:lnTo>
                    <a:pt x="22577552" y="12700"/>
                  </a:lnTo>
                  <a:lnTo>
                    <a:pt x="225775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692333" y="772625"/>
            <a:ext cx="571650" cy="8786250"/>
          </a:xfrm>
          <a:custGeom>
            <a:avLst/>
            <a:gdLst/>
            <a:ahLst/>
            <a:cxnLst/>
            <a:rect l="l" t="t" r="r" b="b"/>
            <a:pathLst>
              <a:path w="571650" h="8786250">
                <a:moveTo>
                  <a:pt x="0" y="0"/>
                </a:moveTo>
                <a:lnTo>
                  <a:pt x="571650" y="0"/>
                </a:lnTo>
                <a:lnTo>
                  <a:pt x="571650" y="8786250"/>
                </a:lnTo>
                <a:lnTo>
                  <a:pt x="0" y="87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38400" y="2095202"/>
            <a:ext cx="14401799" cy="6934498"/>
          </a:xfrm>
          <a:custGeom>
            <a:avLst/>
            <a:gdLst/>
            <a:ahLst/>
            <a:cxnLst/>
            <a:rect l="l" t="t" r="r" b="b"/>
            <a:pathLst>
              <a:path w="12740513" h="5255462">
                <a:moveTo>
                  <a:pt x="0" y="0"/>
                </a:moveTo>
                <a:lnTo>
                  <a:pt x="12740513" y="0"/>
                </a:lnTo>
                <a:lnTo>
                  <a:pt x="12740513" y="5255462"/>
                </a:lnTo>
                <a:lnTo>
                  <a:pt x="0" y="52554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267200" y="1019175"/>
            <a:ext cx="975359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282A2E"/>
                </a:solidFill>
                <a:latin typeface="Arimo Bold"/>
                <a:ea typeface="Arimo Bold"/>
                <a:cs typeface="Arimo Bold"/>
                <a:sym typeface="Arimo Bold"/>
              </a:rPr>
              <a:t>Physical Layout Design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325" y="772525"/>
            <a:ext cx="16942650" cy="8786250"/>
            <a:chOff x="0" y="0"/>
            <a:chExt cx="22590200" cy="11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90252" cy="11714988"/>
            </a:xfrm>
            <a:custGeom>
              <a:avLst/>
              <a:gdLst/>
              <a:ahLst/>
              <a:cxnLst/>
              <a:rect l="l" t="t" r="r" b="b"/>
              <a:pathLst>
                <a:path w="22590252" h="11714988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715"/>
                    <a:pt x="22590252" y="12700"/>
                  </a:cubicBezTo>
                  <a:lnTo>
                    <a:pt x="22590252" y="11702288"/>
                  </a:lnTo>
                  <a:cubicBezTo>
                    <a:pt x="22590252" y="11709273"/>
                    <a:pt x="22584538" y="11714988"/>
                    <a:pt x="22577552" y="11714988"/>
                  </a:cubicBezTo>
                  <a:lnTo>
                    <a:pt x="12700" y="11714988"/>
                  </a:lnTo>
                  <a:cubicBezTo>
                    <a:pt x="5715" y="11714988"/>
                    <a:pt x="0" y="11709273"/>
                    <a:pt x="0" y="117022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702288"/>
                  </a:lnTo>
                  <a:lnTo>
                    <a:pt x="12700" y="11702288"/>
                  </a:lnTo>
                  <a:lnTo>
                    <a:pt x="12700" y="11689588"/>
                  </a:lnTo>
                  <a:lnTo>
                    <a:pt x="22577552" y="11689588"/>
                  </a:lnTo>
                  <a:lnTo>
                    <a:pt x="22577552" y="11702288"/>
                  </a:lnTo>
                  <a:lnTo>
                    <a:pt x="22564852" y="11702288"/>
                  </a:lnTo>
                  <a:lnTo>
                    <a:pt x="22564852" y="12700"/>
                  </a:lnTo>
                  <a:lnTo>
                    <a:pt x="22577552" y="12700"/>
                  </a:lnTo>
                  <a:lnTo>
                    <a:pt x="225775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703396" y="2742821"/>
            <a:ext cx="12261250" cy="5565542"/>
          </a:xfrm>
          <a:custGeom>
            <a:avLst/>
            <a:gdLst/>
            <a:ahLst/>
            <a:cxnLst/>
            <a:rect l="l" t="t" r="r" b="b"/>
            <a:pathLst>
              <a:path w="12261250" h="5565542">
                <a:moveTo>
                  <a:pt x="0" y="0"/>
                </a:moveTo>
                <a:lnTo>
                  <a:pt x="12261251" y="0"/>
                </a:lnTo>
                <a:lnTo>
                  <a:pt x="12261251" y="5565542"/>
                </a:lnTo>
                <a:lnTo>
                  <a:pt x="0" y="55655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615" b="-461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85799" y="857250"/>
            <a:ext cx="10791587" cy="1505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7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post-Layout 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325" y="772525"/>
            <a:ext cx="16942650" cy="8786250"/>
            <a:chOff x="0" y="0"/>
            <a:chExt cx="22590200" cy="11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90252" cy="11714988"/>
            </a:xfrm>
            <a:custGeom>
              <a:avLst/>
              <a:gdLst/>
              <a:ahLst/>
              <a:cxnLst/>
              <a:rect l="l" t="t" r="r" b="b"/>
              <a:pathLst>
                <a:path w="22590252" h="11714988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715"/>
                    <a:pt x="22590252" y="12700"/>
                  </a:cubicBezTo>
                  <a:lnTo>
                    <a:pt x="22590252" y="11702288"/>
                  </a:lnTo>
                  <a:cubicBezTo>
                    <a:pt x="22590252" y="11709273"/>
                    <a:pt x="22584538" y="11714988"/>
                    <a:pt x="22577552" y="11714988"/>
                  </a:cubicBezTo>
                  <a:lnTo>
                    <a:pt x="12700" y="11714988"/>
                  </a:lnTo>
                  <a:cubicBezTo>
                    <a:pt x="5715" y="11714988"/>
                    <a:pt x="0" y="11709273"/>
                    <a:pt x="0" y="117022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702288"/>
                  </a:lnTo>
                  <a:lnTo>
                    <a:pt x="12700" y="11702288"/>
                  </a:lnTo>
                  <a:lnTo>
                    <a:pt x="12700" y="11689588"/>
                  </a:lnTo>
                  <a:lnTo>
                    <a:pt x="22577552" y="11689588"/>
                  </a:lnTo>
                  <a:lnTo>
                    <a:pt x="22577552" y="11702288"/>
                  </a:lnTo>
                  <a:lnTo>
                    <a:pt x="22564852" y="11702288"/>
                  </a:lnTo>
                  <a:lnTo>
                    <a:pt x="22564852" y="12700"/>
                  </a:lnTo>
                  <a:lnTo>
                    <a:pt x="22577552" y="12700"/>
                  </a:lnTo>
                  <a:lnTo>
                    <a:pt x="225775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7062983" y="772625"/>
            <a:ext cx="571650" cy="8786250"/>
          </a:xfrm>
          <a:custGeom>
            <a:avLst/>
            <a:gdLst/>
            <a:ahLst/>
            <a:cxnLst/>
            <a:rect l="l" t="t" r="r" b="b"/>
            <a:pathLst>
              <a:path w="571650" h="8786250">
                <a:moveTo>
                  <a:pt x="0" y="0"/>
                </a:moveTo>
                <a:lnTo>
                  <a:pt x="571650" y="0"/>
                </a:lnTo>
                <a:lnTo>
                  <a:pt x="571650" y="8786250"/>
                </a:lnTo>
                <a:lnTo>
                  <a:pt x="0" y="87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177008" y="2268310"/>
            <a:ext cx="13263204" cy="6233706"/>
          </a:xfrm>
          <a:custGeom>
            <a:avLst/>
            <a:gdLst/>
            <a:ahLst/>
            <a:cxnLst/>
            <a:rect l="l" t="t" r="r" b="b"/>
            <a:pathLst>
              <a:path w="13263204" h="6233706">
                <a:moveTo>
                  <a:pt x="0" y="0"/>
                </a:moveTo>
                <a:lnTo>
                  <a:pt x="13263204" y="0"/>
                </a:lnTo>
                <a:lnTo>
                  <a:pt x="13263204" y="6233706"/>
                </a:lnTo>
                <a:lnTo>
                  <a:pt x="0" y="62337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1425" y="952900"/>
            <a:ext cx="152251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Post-Layout Results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9200" y="2247900"/>
            <a:ext cx="15522709" cy="5962906"/>
          </a:xfrm>
          <a:custGeom>
            <a:avLst/>
            <a:gdLst/>
            <a:ahLst/>
            <a:cxnLst/>
            <a:rect l="l" t="t" r="r" b="b"/>
            <a:pathLst>
              <a:path w="15362283" h="4746258">
                <a:moveTo>
                  <a:pt x="0" y="0"/>
                </a:moveTo>
                <a:lnTo>
                  <a:pt x="15362283" y="0"/>
                </a:lnTo>
                <a:lnTo>
                  <a:pt x="15362283" y="4746258"/>
                </a:lnTo>
                <a:lnTo>
                  <a:pt x="0" y="4746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14800" y="1009650"/>
            <a:ext cx="9677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Comparison with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325" y="772525"/>
            <a:ext cx="16942650" cy="8786250"/>
            <a:chOff x="0" y="0"/>
            <a:chExt cx="22590200" cy="11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90252" cy="11714988"/>
            </a:xfrm>
            <a:custGeom>
              <a:avLst/>
              <a:gdLst/>
              <a:ahLst/>
              <a:cxnLst/>
              <a:rect l="l" t="t" r="r" b="b"/>
              <a:pathLst>
                <a:path w="22590252" h="11714988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715"/>
                    <a:pt x="22590252" y="12700"/>
                  </a:cubicBezTo>
                  <a:lnTo>
                    <a:pt x="22590252" y="11702288"/>
                  </a:lnTo>
                  <a:cubicBezTo>
                    <a:pt x="22590252" y="11709273"/>
                    <a:pt x="22584538" y="11714988"/>
                    <a:pt x="22577552" y="11714988"/>
                  </a:cubicBezTo>
                  <a:lnTo>
                    <a:pt x="12700" y="11714988"/>
                  </a:lnTo>
                  <a:cubicBezTo>
                    <a:pt x="5715" y="11714988"/>
                    <a:pt x="0" y="11709273"/>
                    <a:pt x="0" y="117022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702288"/>
                  </a:lnTo>
                  <a:lnTo>
                    <a:pt x="12700" y="11702288"/>
                  </a:lnTo>
                  <a:lnTo>
                    <a:pt x="12700" y="11689588"/>
                  </a:lnTo>
                  <a:lnTo>
                    <a:pt x="22577552" y="11689588"/>
                  </a:lnTo>
                  <a:lnTo>
                    <a:pt x="22577552" y="11702288"/>
                  </a:lnTo>
                  <a:lnTo>
                    <a:pt x="22564852" y="11702288"/>
                  </a:lnTo>
                  <a:lnTo>
                    <a:pt x="22564852" y="12700"/>
                  </a:lnTo>
                  <a:lnTo>
                    <a:pt x="22577552" y="12700"/>
                  </a:lnTo>
                  <a:lnTo>
                    <a:pt x="225775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692333" y="772625"/>
            <a:ext cx="571650" cy="8786250"/>
          </a:xfrm>
          <a:custGeom>
            <a:avLst/>
            <a:gdLst/>
            <a:ahLst/>
            <a:cxnLst/>
            <a:rect l="l" t="t" r="r" b="b"/>
            <a:pathLst>
              <a:path w="571650" h="8786250">
                <a:moveTo>
                  <a:pt x="0" y="0"/>
                </a:moveTo>
                <a:lnTo>
                  <a:pt x="571650" y="0"/>
                </a:lnTo>
                <a:lnTo>
                  <a:pt x="571650" y="8786250"/>
                </a:lnTo>
                <a:lnTo>
                  <a:pt x="0" y="87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36881" y="7767359"/>
            <a:ext cx="1094142" cy="1092490"/>
          </a:xfrm>
          <a:custGeom>
            <a:avLst/>
            <a:gdLst/>
            <a:ahLst/>
            <a:cxnLst/>
            <a:rect l="l" t="t" r="r" b="b"/>
            <a:pathLst>
              <a:path w="1094142" h="1092490">
                <a:moveTo>
                  <a:pt x="0" y="0"/>
                </a:moveTo>
                <a:lnTo>
                  <a:pt x="1094142" y="0"/>
                </a:lnTo>
                <a:lnTo>
                  <a:pt x="1094142" y="1092490"/>
                </a:lnTo>
                <a:lnTo>
                  <a:pt x="0" y="10924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32587" y="4734969"/>
            <a:ext cx="1098436" cy="1092490"/>
          </a:xfrm>
          <a:custGeom>
            <a:avLst/>
            <a:gdLst/>
            <a:ahLst/>
            <a:cxnLst/>
            <a:rect l="l" t="t" r="r" b="b"/>
            <a:pathLst>
              <a:path w="1098436" h="1092490">
                <a:moveTo>
                  <a:pt x="0" y="0"/>
                </a:moveTo>
                <a:lnTo>
                  <a:pt x="1098436" y="0"/>
                </a:lnTo>
                <a:lnTo>
                  <a:pt x="1098436" y="1092490"/>
                </a:lnTo>
                <a:lnTo>
                  <a:pt x="0" y="10924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611700" y="1702526"/>
            <a:ext cx="1097776" cy="1092544"/>
          </a:xfrm>
          <a:custGeom>
            <a:avLst/>
            <a:gdLst/>
            <a:ahLst/>
            <a:cxnLst/>
            <a:rect l="l" t="t" r="r" b="b"/>
            <a:pathLst>
              <a:path w="1097776" h="1092544">
                <a:moveTo>
                  <a:pt x="0" y="0"/>
                </a:moveTo>
                <a:lnTo>
                  <a:pt x="1097776" y="0"/>
                </a:lnTo>
                <a:lnTo>
                  <a:pt x="1097776" y="1092544"/>
                </a:lnTo>
                <a:lnTo>
                  <a:pt x="0" y="10925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1406" y="1702856"/>
            <a:ext cx="1097280" cy="1092214"/>
          </a:xfrm>
          <a:custGeom>
            <a:avLst/>
            <a:gdLst/>
            <a:ahLst/>
            <a:cxnLst/>
            <a:rect l="l" t="t" r="r" b="b"/>
            <a:pathLst>
              <a:path w="1097280" h="1092214">
                <a:moveTo>
                  <a:pt x="0" y="0"/>
                </a:moveTo>
                <a:lnTo>
                  <a:pt x="1097280" y="0"/>
                </a:lnTo>
                <a:lnTo>
                  <a:pt x="1097280" y="1092214"/>
                </a:lnTo>
                <a:lnTo>
                  <a:pt x="0" y="10922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84019" y="7917197"/>
            <a:ext cx="1098712" cy="1092490"/>
          </a:xfrm>
          <a:custGeom>
            <a:avLst/>
            <a:gdLst/>
            <a:ahLst/>
            <a:cxnLst/>
            <a:rect l="l" t="t" r="r" b="b"/>
            <a:pathLst>
              <a:path w="1098712" h="1092490">
                <a:moveTo>
                  <a:pt x="0" y="0"/>
                </a:moveTo>
                <a:lnTo>
                  <a:pt x="1098712" y="0"/>
                </a:lnTo>
                <a:lnTo>
                  <a:pt x="1098712" y="1092490"/>
                </a:lnTo>
                <a:lnTo>
                  <a:pt x="0" y="10924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784019" y="4619561"/>
            <a:ext cx="1098988" cy="1092378"/>
          </a:xfrm>
          <a:custGeom>
            <a:avLst/>
            <a:gdLst/>
            <a:ahLst/>
            <a:cxnLst/>
            <a:rect l="l" t="t" r="r" b="b"/>
            <a:pathLst>
              <a:path w="1098988" h="1092378">
                <a:moveTo>
                  <a:pt x="0" y="0"/>
                </a:moveTo>
                <a:lnTo>
                  <a:pt x="1098988" y="0"/>
                </a:lnTo>
                <a:lnTo>
                  <a:pt x="1098988" y="1092378"/>
                </a:lnTo>
                <a:lnTo>
                  <a:pt x="0" y="10923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97191" y="1395233"/>
            <a:ext cx="10268784" cy="828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Key Achievements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Area Innovation</a:t>
            </a:r>
          </a:p>
          <a:p>
            <a:pPr marL="690876" lvl="1" indent="-345438" algn="ctr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Low area overhead compared to reference designs</a:t>
            </a:r>
          </a:p>
          <a:p>
            <a:pPr marL="690876" lvl="1" indent="-345438" algn="ctr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Compact and efficient flip-flop structure</a:t>
            </a:r>
          </a:p>
          <a:p>
            <a:pPr marL="690876" lvl="1" indent="-345438" algn="ctr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Optimized layout implementation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Power Innovation</a:t>
            </a:r>
          </a:p>
          <a:p>
            <a:pPr marL="690876" lvl="1" indent="-345438" algn="ctr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Significant reduction in clock power</a:t>
            </a:r>
          </a:p>
          <a:p>
            <a:pPr marL="690876" lvl="1" indent="-345438" algn="ctr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Reduced total power consumption</a:t>
            </a:r>
          </a:p>
          <a:p>
            <a:pPr marL="690876" lvl="1" indent="-345438" algn="ctr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Power saving improves when data activity is low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Speed Innovation</a:t>
            </a:r>
          </a:p>
          <a:p>
            <a:pPr marL="690876" lvl="1" indent="-345438" algn="ctr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Competitive clock-to-Q delay</a:t>
            </a:r>
          </a:p>
          <a:p>
            <a:pPr marL="690876" lvl="1" indent="-345438" algn="ctr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Small setup time penalty</a:t>
            </a:r>
          </a:p>
          <a:p>
            <a:pPr marL="690876" lvl="1" indent="-345438" algn="ctr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Stable timing across operating conditions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Project Goals</a:t>
            </a:r>
          </a:p>
          <a:p>
            <a:pPr marL="690876" lvl="1" indent="-345438" algn="ctr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Target: 20–30% clock power reduction</a:t>
            </a:r>
          </a:p>
          <a:p>
            <a:pPr marL="690876" lvl="1" indent="-345438" algn="ctr">
              <a:lnSpc>
                <a:spcPts val="383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Achieved: Exceeded the target clock power reduction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endParaRPr lang="en-US" sz="3199" dirty="0">
              <a:solidFill>
                <a:srgbClr val="282A2E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325" y="772525"/>
            <a:ext cx="16942650" cy="8786250"/>
            <a:chOff x="0" y="0"/>
            <a:chExt cx="22590200" cy="11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90252" cy="11714988"/>
            </a:xfrm>
            <a:custGeom>
              <a:avLst/>
              <a:gdLst/>
              <a:ahLst/>
              <a:cxnLst/>
              <a:rect l="l" t="t" r="r" b="b"/>
              <a:pathLst>
                <a:path w="22590252" h="11714988">
                  <a:moveTo>
                    <a:pt x="12700" y="0"/>
                  </a:moveTo>
                  <a:lnTo>
                    <a:pt x="22577552" y="0"/>
                  </a:lnTo>
                  <a:cubicBezTo>
                    <a:pt x="22584538" y="0"/>
                    <a:pt x="22590252" y="5715"/>
                    <a:pt x="22590252" y="12700"/>
                  </a:cubicBezTo>
                  <a:lnTo>
                    <a:pt x="22590252" y="11702288"/>
                  </a:lnTo>
                  <a:cubicBezTo>
                    <a:pt x="22590252" y="11709273"/>
                    <a:pt x="22584538" y="11714988"/>
                    <a:pt x="22577552" y="11714988"/>
                  </a:cubicBezTo>
                  <a:lnTo>
                    <a:pt x="12700" y="11714988"/>
                  </a:lnTo>
                  <a:cubicBezTo>
                    <a:pt x="5715" y="11714988"/>
                    <a:pt x="0" y="11709273"/>
                    <a:pt x="0" y="117022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702288"/>
                  </a:lnTo>
                  <a:lnTo>
                    <a:pt x="12700" y="11702288"/>
                  </a:lnTo>
                  <a:lnTo>
                    <a:pt x="12700" y="11689588"/>
                  </a:lnTo>
                  <a:lnTo>
                    <a:pt x="22577552" y="11689588"/>
                  </a:lnTo>
                  <a:lnTo>
                    <a:pt x="22577552" y="11702288"/>
                  </a:lnTo>
                  <a:lnTo>
                    <a:pt x="22564852" y="11702288"/>
                  </a:lnTo>
                  <a:lnTo>
                    <a:pt x="22564852" y="12700"/>
                  </a:lnTo>
                  <a:lnTo>
                    <a:pt x="22577552" y="12700"/>
                  </a:lnTo>
                  <a:lnTo>
                    <a:pt x="225775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82A2E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405565" y="2515157"/>
            <a:ext cx="8059384" cy="6416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2816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  <a:p>
            <a:pPr marL="608158" lvl="1" indent="-304079" algn="l">
              <a:lnSpc>
                <a:spcPts val="3633"/>
              </a:lnSpc>
              <a:buFont typeface="Arial"/>
              <a:buChar char="•"/>
            </a:pPr>
            <a:r>
              <a:rPr lang="en-US" sz="2816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Designed a low power CCFF in 32 nm CMOS</a:t>
            </a:r>
          </a:p>
          <a:p>
            <a:pPr marL="608158" lvl="1" indent="-304079" algn="l">
              <a:lnSpc>
                <a:spcPts val="3633"/>
              </a:lnSpc>
              <a:buFont typeface="Arial"/>
              <a:buChar char="•"/>
            </a:pPr>
            <a:r>
              <a:rPr lang="en-US" sz="2816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Reduced clock power compared to conventional flip-flop</a:t>
            </a:r>
          </a:p>
          <a:p>
            <a:pPr marL="608158" lvl="1" indent="-304079" algn="l">
              <a:lnSpc>
                <a:spcPts val="3633"/>
              </a:lnSpc>
              <a:buFont typeface="Arial"/>
              <a:buChar char="•"/>
            </a:pPr>
            <a:r>
              <a:rPr lang="en-US" sz="2816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Maintained acceptable timing performance</a:t>
            </a:r>
          </a:p>
          <a:p>
            <a:pPr marL="608158" lvl="1" indent="-304079" algn="l">
              <a:lnSpc>
                <a:spcPts val="3633"/>
              </a:lnSpc>
              <a:buFont typeface="Arial"/>
              <a:buChar char="•"/>
            </a:pPr>
            <a:r>
              <a:rPr lang="en-US" sz="2816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Verified through pre- and post-layout simulations</a:t>
            </a:r>
          </a:p>
          <a:p>
            <a:pPr algn="l">
              <a:lnSpc>
                <a:spcPts val="3633"/>
              </a:lnSpc>
            </a:pPr>
            <a:r>
              <a:rPr lang="en-US" sz="2816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Future Work</a:t>
            </a:r>
          </a:p>
          <a:p>
            <a:pPr marL="608158" lvl="1" indent="-304079" algn="l">
              <a:lnSpc>
                <a:spcPts val="3633"/>
              </a:lnSpc>
              <a:buFont typeface="Arial"/>
              <a:buChar char="•"/>
            </a:pPr>
            <a:r>
              <a:rPr lang="en-US" sz="2816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Extend the design to advanced technology nodes</a:t>
            </a:r>
          </a:p>
          <a:p>
            <a:pPr marL="608158" lvl="1" indent="-304079" algn="l">
              <a:lnSpc>
                <a:spcPts val="3633"/>
              </a:lnSpc>
              <a:buFont typeface="Arial"/>
              <a:buChar char="•"/>
            </a:pPr>
            <a:r>
              <a:rPr lang="en-US" sz="2816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Design multi-bit CCFF structures</a:t>
            </a:r>
          </a:p>
          <a:p>
            <a:pPr marL="608158" lvl="1" indent="-304079" algn="l">
              <a:lnSpc>
                <a:spcPts val="3633"/>
              </a:lnSpc>
              <a:buFont typeface="Arial"/>
              <a:buChar char="•"/>
            </a:pPr>
            <a:r>
              <a:rPr lang="en-US" sz="2816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Further optimize power consumption</a:t>
            </a:r>
          </a:p>
          <a:p>
            <a:pPr marL="608158" lvl="1" indent="-304079" algn="l">
              <a:lnSpc>
                <a:spcPts val="3633"/>
              </a:lnSpc>
              <a:buFont typeface="Arial"/>
              <a:buChar char="•"/>
            </a:pPr>
            <a:r>
              <a:rPr lang="en-US" sz="2816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Integrate into larger digital systems</a:t>
            </a:r>
          </a:p>
          <a:p>
            <a:pPr algn="l">
              <a:lnSpc>
                <a:spcPts val="3633"/>
              </a:lnSpc>
            </a:pPr>
            <a:endParaRPr lang="en-US" sz="2816" dirty="0">
              <a:solidFill>
                <a:srgbClr val="282A2E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609725" y="772625"/>
            <a:ext cx="7025250" cy="8786250"/>
          </a:xfrm>
          <a:custGeom>
            <a:avLst/>
            <a:gdLst/>
            <a:ahLst/>
            <a:cxnLst/>
            <a:rect l="l" t="t" r="r" b="b"/>
            <a:pathLst>
              <a:path w="7025250" h="8786250">
                <a:moveTo>
                  <a:pt x="0" y="0"/>
                </a:moveTo>
                <a:lnTo>
                  <a:pt x="7025250" y="0"/>
                </a:lnTo>
                <a:lnTo>
                  <a:pt x="7025250" y="8786250"/>
                </a:lnTo>
                <a:lnTo>
                  <a:pt x="0" y="87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82994" y="1062447"/>
            <a:ext cx="15451981" cy="56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7"/>
              </a:lnSpc>
              <a:spcBef>
                <a:spcPct val="0"/>
              </a:spcBef>
            </a:pPr>
            <a:r>
              <a:rPr lang="en-US" sz="3648" dirty="0">
                <a:solidFill>
                  <a:srgbClr val="282A2E"/>
                </a:solidFill>
                <a:latin typeface="Arimo"/>
                <a:ea typeface="Arimo"/>
                <a:cs typeface="Arimo"/>
                <a:sym typeface="Arimo"/>
              </a:rPr>
              <a:t>Conclusion &amp; Future 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634</Words>
  <Application>Microsoft Office PowerPoint</Application>
  <PresentationFormat>Custom</PresentationFormat>
  <Paragraphs>152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Asap Bold</vt:lpstr>
      <vt:lpstr>Asap</vt:lpstr>
      <vt:lpstr>Canva Sans Bold</vt:lpstr>
      <vt:lpstr>Arimo Bold</vt:lpstr>
      <vt:lpstr>Arimo</vt:lpstr>
      <vt:lpstr>Calibri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Semiconductor Material by Slidesgo.pptx</dc:title>
  <cp:lastModifiedBy>ASUS</cp:lastModifiedBy>
  <cp:revision>5</cp:revision>
  <dcterms:created xsi:type="dcterms:W3CDTF">2006-08-16T00:00:00Z</dcterms:created>
  <dcterms:modified xsi:type="dcterms:W3CDTF">2026-02-05T12:08:07Z</dcterms:modified>
  <dc:identifier>DAG_7Oy1rlU</dc:identifier>
</cp:coreProperties>
</file>